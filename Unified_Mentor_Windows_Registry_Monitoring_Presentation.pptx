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822960"/>
            <a:ext cx="1828800" cy="1828800"/>
          </a:xfrm>
          <a:prstGeom prst="ellipse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2011680"/>
            <a:ext cx="1188720" cy="1188720"/>
          </a:xfrm>
          <a:prstGeom prst="ellipse">
            <a:avLst/>
          </a:prstGeom>
          <a:solidFill>
            <a:srgbClr val="13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2743200"/>
            <a:ext cx="822960" cy="822960"/>
          </a:xfrm>
          <a:prstGeom prst="ellipse">
            <a:avLst/>
          </a:prstGeom>
          <a:solidFill>
            <a:srgbClr val="13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3931920"/>
            <a:ext cx="502920" cy="502920"/>
          </a:xfrm>
          <a:prstGeom prst="ellipse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052560" y="1737360"/>
            <a:ext cx="1005840" cy="822960"/>
          </a:xfrm>
          <a:prstGeom prst="line">
            <a:avLst/>
          </a:prstGeom>
          <a:ln w="25400">
            <a:solidFill>
              <a:srgbClr val="365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321040" y="1737360"/>
            <a:ext cx="731520" cy="1280160"/>
          </a:xfrm>
          <a:prstGeom prst="line">
            <a:avLst/>
          </a:prstGeom>
          <a:ln w="25400">
            <a:solidFill>
              <a:srgbClr val="365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41280" y="2651760"/>
            <a:ext cx="365760" cy="1463040"/>
          </a:xfrm>
          <a:prstGeom prst="line">
            <a:avLst/>
          </a:prstGeom>
          <a:ln w="25400">
            <a:solidFill>
              <a:srgbClr val="365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3017520"/>
            <a:ext cx="2286000" cy="1097280"/>
          </a:xfrm>
          <a:prstGeom prst="line">
            <a:avLst/>
          </a:prstGeom>
          <a:ln w="25400">
            <a:solidFill>
              <a:srgbClr val="365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601200" y="2560320"/>
            <a:ext cx="548640" cy="1554480"/>
          </a:xfrm>
          <a:prstGeom prst="line">
            <a:avLst/>
          </a:prstGeom>
          <a:ln w="25400">
            <a:solidFill>
              <a:srgbClr val="365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3232" y="749808"/>
            <a:ext cx="1965960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768096"/>
            <a:ext cx="1856231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35D3DC"/>
                </a:solidFill>
                <a:latin typeface="Aptos"/>
              </a:rPr>
              <a:t>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417320"/>
            <a:ext cx="713232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5F8FC"/>
                </a:solidFill>
                <a:latin typeface="Aptos"/>
              </a:rPr>
              <a:t>Windows Registry</a:t>
            </a:r>
          </a:p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5F8FC"/>
                </a:solidFill>
                <a:latin typeface="Aptos"/>
              </a:rPr>
              <a:t>Change Monitoring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154680"/>
            <a:ext cx="63093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B0C1D7"/>
                </a:solidFill>
                <a:latin typeface="Aptos"/>
              </a:rPr>
              <a:t>Read-only defensive monitoring for startup changes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B0C1D7"/>
                </a:solidFill>
                <a:latin typeface="Aptos"/>
              </a:rPr>
              <a:t>and selected Windows security 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617720"/>
            <a:ext cx="5303520" cy="96012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82312"/>
            <a:ext cx="4892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5D3DC"/>
                </a:solidFill>
                <a:latin typeface="Aptos"/>
              </a:rPr>
              <a:t>PREPARED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93208"/>
            <a:ext cx="4892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Kinjal Khuman  |  Unified Mentor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72200"/>
            <a:ext cx="6858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B0C1D7"/>
                </a:solidFill>
                <a:latin typeface="Aptos"/>
              </a:rPr>
              <a:t>Python 3.14  •  winreg  •  JSON baselines  •  Text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C1D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5D3DC"/>
                </a:solidFill>
                <a:latin typeface="Aptos"/>
              </a:rP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C1D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55664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B0C1D7"/>
                </a:solidFill>
                <a:latin typeface="Aptos"/>
              </a:rPr>
              <a:t>UNIFIED MENTOR  •  WINDOWS REGISTRY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57800" cy="1874519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1874519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487375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40280"/>
            <a:ext cx="4873752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Startup Registry changes can affect which programs launch when Windows starts. Unexpected changes deserve review, but are not automatically malicious.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321808" cy="1874519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00200"/>
            <a:ext cx="64008" cy="1874519"/>
          </a:xfrm>
          <a:prstGeom prst="rect">
            <a:avLst/>
          </a:prstGeom>
          <a:solidFill>
            <a:srgbClr val="5E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PROJECT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4937760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Build a read-only Python toolkit that compares selected Registry data with saved references and records differences for investigation.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285232" cy="804672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931920"/>
            <a:ext cx="502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5D3DC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04488"/>
            <a:ext cx="14173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904488"/>
            <a:ext cx="29260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B0C1D7"/>
                </a:solidFill>
                <a:latin typeface="Aptos"/>
              </a:rPr>
              <a:t>New, removed, and modified startup entries.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94760"/>
            <a:ext cx="5285232" cy="804672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931920"/>
            <a:ext cx="502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5D3DC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904488"/>
            <a:ext cx="14173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04488"/>
            <a:ext cx="29260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B0C1D7"/>
                </a:solidFill>
                <a:latin typeface="Aptos"/>
              </a:rPr>
              <a:t>Current values with baseline/reference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46320"/>
            <a:ext cx="5285232" cy="804672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983480"/>
            <a:ext cx="502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5D3DC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4956048"/>
            <a:ext cx="14173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956048"/>
            <a:ext cx="29260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B0C1D7"/>
                </a:solidFill>
                <a:latin typeface="Aptos"/>
              </a:rPr>
              <a:t>Selected Firewall, UAC, Shell, and Defender policy values.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846320"/>
            <a:ext cx="5285232" cy="804672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983480"/>
            <a:ext cx="502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5D3DC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956048"/>
            <a:ext cx="14173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956048"/>
            <a:ext cx="29260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B0C1D7"/>
                </a:solidFill>
                <a:latin typeface="Aptos"/>
              </a:rPr>
              <a:t>Keep reports and tests to support technical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5D3DC"/>
                </a:solidFill>
                <a:latin typeface="Aptos"/>
              </a:rPr>
              <a:t>02 /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Scope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C1D7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55664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B0C1D7"/>
                </a:solidFill>
                <a:latin typeface="Aptos"/>
              </a:rPr>
              <a:t>UNIFIED MENTOR  •  WINDOWS REGISTRY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35D3DC"/>
                </a:solidFill>
                <a:latin typeface="Aptos"/>
              </a:rPr>
              <a:t>MONITORED AREAS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38528"/>
            <a:ext cx="5166360" cy="68580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48256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Startup entries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48256"/>
            <a:ext cx="3063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B0C1D7"/>
                </a:solidFill>
                <a:latin typeface="Aptos"/>
              </a:rPr>
              <a:t>HKCU / HKLM  •  Run and RunOnce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16352"/>
            <a:ext cx="5166360" cy="68580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Security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926080"/>
            <a:ext cx="3063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B0C1D7"/>
                </a:solidFill>
                <a:latin typeface="Aptos"/>
              </a:rPr>
              <a:t>Selected Defender policy, Firewall, UAC, Shell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94176"/>
            <a:ext cx="5166360" cy="68580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03904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File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803904"/>
            <a:ext cx="3063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B0C1D7"/>
                </a:solidFill>
                <a:latin typeface="Aptos"/>
              </a:rPr>
              <a:t>Test compares a file with a stored reference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572000"/>
            <a:ext cx="5166360" cy="68580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81728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681728"/>
            <a:ext cx="3063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B0C1D7"/>
                </a:solidFill>
                <a:latin typeface="Aptos"/>
              </a:rPr>
              <a:t>Text files record monitoring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81328"/>
            <a:ext cx="47548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35D3DC"/>
                </a:solidFill>
                <a:latin typeface="Aptos"/>
              </a:rPr>
              <a:t>TECH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920240"/>
            <a:ext cx="5074920" cy="594360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020824"/>
            <a:ext cx="1965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5D3DC"/>
                </a:solidFill>
                <a:latin typeface="Aptos"/>
              </a:rPr>
              <a:t>PYTHON 3.14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20824"/>
            <a:ext cx="2514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B0C1D7"/>
                </a:solidFill>
                <a:latin typeface="Aptos"/>
              </a:rPr>
              <a:t>Monitoring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688336"/>
            <a:ext cx="5074920" cy="594360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788920"/>
            <a:ext cx="1965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5D3DC"/>
                </a:solidFill>
                <a:latin typeface="Aptos"/>
              </a:rPr>
              <a:t>WINREG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788920"/>
            <a:ext cx="2514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B0C1D7"/>
                </a:solidFill>
                <a:latin typeface="Aptos"/>
              </a:rPr>
              <a:t>Read-only Registry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56432"/>
            <a:ext cx="5074920" cy="594360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557016"/>
            <a:ext cx="1965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5D3DC"/>
                </a:solidFill>
                <a:latin typeface="Aptos"/>
              </a:rPr>
              <a:t>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557016"/>
            <a:ext cx="2514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B0C1D7"/>
                </a:solidFill>
                <a:latin typeface="Aptos"/>
              </a:rPr>
              <a:t>Baseline/reference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224528"/>
            <a:ext cx="5074920" cy="594360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325112"/>
            <a:ext cx="1965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5D3DC"/>
                </a:solidFill>
                <a:latin typeface="Aptos"/>
              </a:rPr>
              <a:t>VS CODE + POWERSHELL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325112"/>
            <a:ext cx="2514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B0C1D7"/>
                </a:solidFill>
                <a:latin typeface="Aptos"/>
              </a:rPr>
              <a:t>Execution and verification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992624"/>
            <a:ext cx="5074920" cy="594360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093208"/>
            <a:ext cx="19659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5D3DC"/>
                </a:solidFill>
                <a:latin typeface="Aptos"/>
              </a:rPr>
              <a:t>TEXT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5093208"/>
            <a:ext cx="25146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B0C1D7"/>
                </a:solidFill>
                <a:latin typeface="Aptos"/>
              </a:rPr>
              <a:t>Findings and test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5D3DC"/>
                </a:solidFill>
                <a:latin typeface="Aptos"/>
              </a:rPr>
              <a:t>03 /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C1D7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55664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B0C1D7"/>
                </a:solidFill>
                <a:latin typeface="Aptos"/>
              </a:rPr>
              <a:t>UNIFIED MENTOR  •  WINDOWS REGISTRY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148840" cy="91440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11679"/>
            <a:ext cx="19293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35D3DC"/>
                </a:solidFill>
                <a:latin typeface="Aptos"/>
              </a:rPr>
              <a:t>REGISTRY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13432"/>
            <a:ext cx="1929384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Run / RunOnce</a:t>
            </a:r>
          </a:p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Selected security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874519"/>
            <a:ext cx="2057400" cy="91440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5E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2011679"/>
            <a:ext cx="1837943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5EDCA0"/>
                </a:solidFill>
                <a:latin typeface="Aptos"/>
              </a:rPr>
              <a:t>READ-ONLY READER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313432"/>
            <a:ext cx="1837943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Python + winreg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874519"/>
            <a:ext cx="2057400" cy="91440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4728" y="2011679"/>
            <a:ext cx="1837943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35D3DC"/>
                </a:solidFill>
                <a:latin typeface="Aptos"/>
              </a:rPr>
              <a:t>COMPARISON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313432"/>
            <a:ext cx="1837943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Current vs reference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74519"/>
            <a:ext cx="2834640" cy="91440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FFC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7" y="2011679"/>
            <a:ext cx="26151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C35F"/>
                </a:solidFill>
                <a:latin typeface="Aptos"/>
              </a:rPr>
              <a:t>FINDINGS &amp;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2313432"/>
            <a:ext cx="2615184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New / Removed / Modified</a:t>
            </a:r>
          </a:p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Security-setting differences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2331720"/>
            <a:ext cx="411480" cy="0"/>
          </a:xfrm>
          <a:prstGeom prst="line">
            <a:avLst/>
          </a:prstGeom>
          <a:ln w="2540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03520" y="2331720"/>
            <a:ext cx="411480" cy="0"/>
          </a:xfrm>
          <a:prstGeom prst="line">
            <a:avLst/>
          </a:prstGeom>
          <a:ln w="2540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72400" y="2331720"/>
            <a:ext cx="411479" cy="0"/>
          </a:xfrm>
          <a:prstGeom prst="line">
            <a:avLst/>
          </a:prstGeom>
          <a:ln w="2540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20440" y="3703320"/>
            <a:ext cx="4297680" cy="868680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858768"/>
            <a:ext cx="40233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35D3DC"/>
                </a:solidFill>
                <a:latin typeface="Aptos"/>
              </a:rPr>
              <a:t>BASELINE / REFERENCE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160520"/>
            <a:ext cx="40233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B0C1D7"/>
                </a:solidFill>
                <a:latin typeface="Aptos"/>
              </a:rPr>
              <a:t>Saved expected values for comparison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669280" y="2852928"/>
            <a:ext cx="1051560" cy="850392"/>
          </a:xfrm>
          <a:prstGeom prst="line">
            <a:avLst/>
          </a:prstGeom>
          <a:ln w="1905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5074920"/>
            <a:ext cx="10561320" cy="658368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239512"/>
            <a:ext cx="101955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Separate verification scripts: file-integrity tamper test • sample comparison test • simulated error-handling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5D3DC"/>
                </a:solidFill>
                <a:latin typeface="Aptos"/>
              </a:rPr>
              <a:t>03 /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C1D7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55664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B0C1D7"/>
                </a:solidFill>
                <a:latin typeface="Aptos"/>
              </a:rPr>
              <a:t>UNIFIED MENTOR  •  WINDOWS REGISTRY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1664208" cy="150876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9848" y="1874519"/>
            <a:ext cx="713232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892807"/>
            <a:ext cx="603504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35D3DC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95728"/>
            <a:ext cx="1444752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34640"/>
            <a:ext cx="144475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B0C1D7"/>
                </a:solidFill>
                <a:latin typeface="Aptos"/>
              </a:rPr>
              <a:t>Configured Registry locations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8568" y="2834640"/>
            <a:ext cx="274320" cy="0"/>
          </a:xfrm>
          <a:prstGeom prst="line">
            <a:avLst/>
          </a:prstGeom>
          <a:ln w="1905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32888" y="2103120"/>
            <a:ext cx="1664208" cy="150876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08376" y="1874519"/>
            <a:ext cx="713232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892807"/>
            <a:ext cx="603504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35D3D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395728"/>
            <a:ext cx="1444752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2834640"/>
            <a:ext cx="144475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B0C1D7"/>
                </a:solidFill>
                <a:latin typeface="Aptos"/>
              </a:rPr>
              <a:t>Collect current values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97096" y="2834640"/>
            <a:ext cx="274320" cy="0"/>
          </a:xfrm>
          <a:prstGeom prst="line">
            <a:avLst/>
          </a:prstGeom>
          <a:ln w="1905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71416" y="2103120"/>
            <a:ext cx="1664208" cy="150876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46904" y="1874519"/>
            <a:ext cx="713232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1892807"/>
            <a:ext cx="603504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35D3DC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395728"/>
            <a:ext cx="1444752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2834640"/>
            <a:ext cx="144475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B0C1D7"/>
                </a:solidFill>
                <a:latin typeface="Aptos"/>
              </a:rPr>
              <a:t>Load baseline/reference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35624" y="2834640"/>
            <a:ext cx="274320" cy="0"/>
          </a:xfrm>
          <a:prstGeom prst="line">
            <a:avLst/>
          </a:prstGeom>
          <a:ln w="1905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9944" y="2103120"/>
            <a:ext cx="1664208" cy="150876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85432" y="1874519"/>
            <a:ext cx="713232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0296" y="1892807"/>
            <a:ext cx="603504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35D3DC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2395728"/>
            <a:ext cx="1444752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2834640"/>
            <a:ext cx="144475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B0C1D7"/>
                </a:solidFill>
                <a:latin typeface="Aptos"/>
              </a:rPr>
              <a:t>Check current vs expected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74152" y="2834640"/>
            <a:ext cx="274320" cy="0"/>
          </a:xfrm>
          <a:prstGeom prst="line">
            <a:avLst/>
          </a:prstGeom>
          <a:ln w="1905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48472" y="2103120"/>
            <a:ext cx="1664208" cy="150876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23960" y="1874519"/>
            <a:ext cx="713232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4" y="1892807"/>
            <a:ext cx="603504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35D3DC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395728"/>
            <a:ext cx="1444752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CLASSIFY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834640"/>
            <a:ext cx="144475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B0C1D7"/>
                </a:solidFill>
                <a:latin typeface="Aptos"/>
              </a:rPr>
              <a:t>New / Removed / Modified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12680" y="2834640"/>
            <a:ext cx="274320" cy="0"/>
          </a:xfrm>
          <a:prstGeom prst="line">
            <a:avLst/>
          </a:prstGeom>
          <a:ln w="19050">
            <a:solidFill>
              <a:srgbClr val="3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287000" y="2103120"/>
            <a:ext cx="1664208" cy="150876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5E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762488" y="1874519"/>
            <a:ext cx="713232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5E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17352" y="1892807"/>
            <a:ext cx="603504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EDCA0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96728" y="2395728"/>
            <a:ext cx="1444752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96728" y="2834640"/>
            <a:ext cx="144475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B0C1D7"/>
                </a:solidFill>
                <a:latin typeface="Aptos"/>
              </a:rPr>
              <a:t>Write findings for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4389120"/>
            <a:ext cx="10287000" cy="960120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4590288"/>
            <a:ext cx="9829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35D3DC"/>
                </a:solidFill>
                <a:latin typeface="Aptos"/>
              </a:rPr>
              <a:t>AUTOMATIC MONITORING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4919472"/>
            <a:ext cx="9829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B0C1D7"/>
                </a:solidFill>
                <a:latin typeface="Aptos"/>
              </a:rPr>
              <a:t>The recorded script run used a 60-second polling interval; Task Scheduler / start-on-boot is not confirmed.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5D3DC"/>
                </a:solidFill>
                <a:latin typeface="Aptos"/>
              </a:rPr>
              <a:t>04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Implementation &amp;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C1D7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55664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B0C1D7"/>
                </a:solidFill>
                <a:latin typeface="Aptos"/>
              </a:rPr>
              <a:t>UNIFIED MENTOR  •  WINDOWS REGISTRY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3520440" cy="1572768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91640"/>
            <a:ext cx="64008" cy="1572768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13639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01  Startup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36392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Compares configured Run and RunOnce entries and reports additions, removals, and modifications.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91640"/>
            <a:ext cx="3520440" cy="1572768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3712" y="1691640"/>
            <a:ext cx="64008" cy="1572768"/>
          </a:xfrm>
          <a:prstGeom prst="rect">
            <a:avLst/>
          </a:prstGeom>
          <a:solidFill>
            <a:srgbClr val="5E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856232"/>
            <a:ext cx="313639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02  Automatic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31720"/>
            <a:ext cx="3136392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Polls configured startup Registry locations at a recorded 60-second interval.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1691640"/>
            <a:ext cx="3520440" cy="1572768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94192" y="1691640"/>
            <a:ext cx="64008" cy="1572768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856232"/>
            <a:ext cx="313639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03  Security monitor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331720"/>
            <a:ext cx="3136392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Checks selected Defender policy, Firewall, UAC, and Shell settings against a reference JSON.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657600"/>
            <a:ext cx="3520440" cy="1572768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657600"/>
            <a:ext cx="64008" cy="1572768"/>
          </a:xfrm>
          <a:prstGeom prst="rect">
            <a:avLst/>
          </a:prstGeom>
          <a:solidFill>
            <a:srgbClr val="FFC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22191"/>
            <a:ext cx="313639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04  Integrity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136392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Tests whether a modified file differs from a stored reference hash.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3657600"/>
            <a:ext cx="3520440" cy="1572768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53712" y="3657600"/>
            <a:ext cx="64008" cy="1572768"/>
          </a:xfrm>
          <a:prstGeom prst="rect">
            <a:avLst/>
          </a:prstGeom>
          <a:solidFill>
            <a:srgbClr val="5E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822191"/>
            <a:ext cx="313639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05  Error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297680"/>
            <a:ext cx="3136392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Exercises safe handling of a simulated Registry enumeration failure.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2" y="3657600"/>
            <a:ext cx="3520440" cy="1572768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94192" y="3657600"/>
            <a:ext cx="64008" cy="1572768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3822191"/>
            <a:ext cx="3136392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06 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297680"/>
            <a:ext cx="3136392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Stores detected startup differences and test evidence in text files.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C35F"/>
                </a:solidFill>
                <a:latin typeface="Aptos"/>
              </a:rPr>
              <a:t>Design principle: read-only inspection. The toolkit is not a full endpoint-detection or antivirus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5D3DC"/>
                </a:solidFill>
                <a:latin typeface="Aptos"/>
              </a:rPr>
              <a:t>05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Results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C1D7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55664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B0C1D7"/>
                </a:solidFill>
                <a:latin typeface="Aptos"/>
              </a:rPr>
              <a:t>UNIFIED MENTOR  •  WINDOWS REGISTRY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6537960" cy="4315968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080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5D3DC"/>
                </a:solidFill>
                <a:latin typeface="Aptos"/>
              </a:rPr>
              <a:t>REAL STARTUP COMPARISON — RECORDED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95728"/>
            <a:ext cx="5943600" cy="804672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5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32888"/>
            <a:ext cx="1188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5D3DC"/>
                </a:solidFill>
                <a:latin typeface="Aptos"/>
              </a:rPr>
              <a:t>NEW ×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05456"/>
            <a:ext cx="42519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Microsoft Edge auto-launch entries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447288"/>
            <a:ext cx="5943600" cy="804672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FFC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584448"/>
            <a:ext cx="1188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C35F"/>
                </a:solidFill>
                <a:latin typeface="Aptos"/>
              </a:rPr>
              <a:t>MODIFIED ×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557016"/>
            <a:ext cx="42519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Microsoft Lists / OneDrive executable path changed from version 26.178.0913.0007 to 26.183.0920.0005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09160"/>
            <a:ext cx="58978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0C1D7"/>
                </a:solidFill>
                <a:latin typeface="Aptos"/>
              </a:rPr>
              <a:t>Interpretation: these changes may be normal software updates or startup changes. They were not confirmed malicious.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627632"/>
            <a:ext cx="3977639" cy="4315968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5E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828800"/>
            <a:ext cx="3429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5EDCA0"/>
                </a:solidFill>
                <a:latin typeface="Aptos"/>
              </a:rPr>
              <a:t>VERIFICATION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331720"/>
            <a:ext cx="685800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5E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2350008"/>
            <a:ext cx="576072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EDCA0"/>
                </a:solidFill>
                <a:latin typeface="Aptos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313432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Security monitor V2: no differences from corrected reference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090672"/>
            <a:ext cx="685800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5E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27264" y="3108960"/>
            <a:ext cx="576072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EDCA0"/>
                </a:solidFill>
                <a:latin typeface="Aptos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072384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Integrity tamper-detection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849624"/>
            <a:ext cx="685800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5E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3867911"/>
            <a:ext cx="576072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EDCA0"/>
                </a:solidFill>
                <a:latin typeface="Aptos"/>
              </a:rP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831336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Simulated error-handling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608575"/>
            <a:ext cx="685800" cy="329184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5E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7264" y="4626863"/>
            <a:ext cx="576072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EDCA0"/>
                </a:solidFill>
                <a:latin typeface="Aptos"/>
              </a:rPr>
              <a:t>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590288"/>
            <a:ext cx="25146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Sample new / removed / modified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440680"/>
            <a:ext cx="3337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FFC35F"/>
                </a:solidFill>
                <a:latin typeface="Aptos"/>
              </a:rPr>
              <a:t>Selected checks only — not a full security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20040"/>
            <a:ext cx="4114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35D3DC"/>
                </a:solidFill>
                <a:latin typeface="Aptos"/>
              </a:rPr>
              <a:t>06 /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Conclusion &amp;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B0C1D7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55664"/>
            <a:ext cx="6858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B0C1D7"/>
                </a:solidFill>
                <a:latin typeface="Aptos"/>
              </a:rPr>
              <a:t>UNIFIED MENTOR  •  WINDOWS REGISTRY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64208"/>
            <a:ext cx="5230368" cy="1874519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64208"/>
            <a:ext cx="64008" cy="1874519"/>
          </a:xfrm>
          <a:prstGeom prst="rect">
            <a:avLst/>
          </a:prstGeom>
          <a:solidFill>
            <a:srgbClr val="5E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4846320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Read-only startup Registry monitoring, reference comparison, selected security-setting checks, text reporting, and tests for integrity and error handling.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64208"/>
            <a:ext cx="5230368" cy="1874519"/>
          </a:xfrm>
          <a:prstGeom prst="roundRect">
            <a:avLst/>
          </a:prstGeom>
          <a:solidFill>
            <a:srgbClr val="182D4E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64208"/>
            <a:ext cx="64008" cy="1874519"/>
          </a:xfrm>
          <a:prstGeom prst="rect">
            <a:avLst/>
          </a:prstGeom>
          <a:solidFill>
            <a:srgbClr val="FFC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8463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IMPORTANT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04288"/>
            <a:ext cx="4846320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B0C1D7"/>
                </a:solidFill>
                <a:latin typeface="Aptos"/>
              </a:rPr>
              <a:t>Coverage is limited to configured keys and values. Baselines can become outdated. NOT_FOUND does not prove security status; findings require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35D3DC"/>
                </a:solidFill>
                <a:latin typeface="Aptos"/>
              </a:rPr>
              <a:t>POSSIBLE NEXT IMPROVEMENTS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98848"/>
            <a:ext cx="3429000" cy="77724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69087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5D3DC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645152"/>
            <a:ext cx="2487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F5F8FC"/>
                </a:solidFill>
                <a:latin typeface="Aptos"/>
              </a:rPr>
              <a:t>Expand carefully selected 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79" y="4498848"/>
            <a:ext cx="3429000" cy="77724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1" y="469087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5D3DC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799" y="4645152"/>
            <a:ext cx="2487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F5F8FC"/>
                </a:solidFill>
                <a:latin typeface="Aptos"/>
              </a:rPr>
              <a:t>Improve structured logging and alert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4498848"/>
            <a:ext cx="3429000" cy="777240"/>
          </a:xfrm>
          <a:prstGeom prst="roundRect">
            <a:avLst/>
          </a:prstGeom>
          <a:solidFill>
            <a:srgbClr val="132546"/>
          </a:solidFill>
          <a:ln w="12700">
            <a:solidFill>
              <a:srgbClr val="36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1" y="469087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5D3DC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645152"/>
            <a:ext cx="24871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F5F8FC"/>
                </a:solidFill>
                <a:latin typeface="Aptos"/>
              </a:rPr>
              <a:t>Document baseline updates and operational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515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5F8FC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